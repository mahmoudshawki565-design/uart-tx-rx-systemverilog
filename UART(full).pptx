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7" r:id="rId2"/>
    <p:sldId id="258" r:id="rId3"/>
    <p:sldId id="262" r:id="rId4"/>
    <p:sldId id="265" r:id="rId5"/>
    <p:sldId id="260" r:id="rId6"/>
    <p:sldId id="261" r:id="rId7"/>
    <p:sldId id="259" r:id="rId8"/>
    <p:sldId id="263" r:id="rId9"/>
    <p:sldId id="264" r:id="rId10"/>
    <p:sldId id="266" r:id="rId11"/>
    <p:sldId id="267" r:id="rId12"/>
    <p:sldId id="268" r:id="rId13"/>
  </p:sldIdLst>
  <p:sldSz cx="9144000" cy="6858000" type="screen4x3"/>
  <p:notesSz cx="6858000" cy="9144000"/>
  <p:defaultText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6" d="100"/>
          <a:sy n="66" d="100"/>
        </p:scale>
        <p:origin x="-150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smtClean="0"/>
              <a:t>انقر لتحرير نمط العنوان الرئيسي</a:t>
            </a:r>
            <a:endParaRPr lang="ar-EG"/>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smtClean="0"/>
              <a:t>انقر لتحرير نمط العنوان الثانوي الرئيسي</a:t>
            </a:r>
            <a:endParaRPr lang="ar-EG"/>
          </a:p>
        </p:txBody>
      </p:sp>
      <p:sp>
        <p:nvSpPr>
          <p:cNvPr id="4" name="عنصر نائب للتاريخ 3"/>
          <p:cNvSpPr>
            <a:spLocks noGrp="1"/>
          </p:cNvSpPr>
          <p:nvPr>
            <p:ph type="dt" sz="half" idx="10"/>
          </p:nvPr>
        </p:nvSpPr>
        <p:spPr/>
        <p:txBody>
          <a:bodyPr/>
          <a:lstStyle/>
          <a:p>
            <a:fld id="{249DE132-391C-4A07-8452-17269176F924}" type="datetimeFigureOut">
              <a:rPr lang="ar-EG" smtClean="0"/>
              <a:t>21/03/1448</a:t>
            </a:fld>
            <a:endParaRPr lang="ar-EG"/>
          </a:p>
        </p:txBody>
      </p:sp>
      <p:sp>
        <p:nvSpPr>
          <p:cNvPr id="5" name="عنصر نائب للتذييل 4"/>
          <p:cNvSpPr>
            <a:spLocks noGrp="1"/>
          </p:cNvSpPr>
          <p:nvPr>
            <p:ph type="ftr" sz="quarter" idx="11"/>
          </p:nvPr>
        </p:nvSpPr>
        <p:spPr/>
        <p:txBody>
          <a:bodyPr/>
          <a:lstStyle/>
          <a:p>
            <a:endParaRPr lang="ar-EG"/>
          </a:p>
        </p:txBody>
      </p:sp>
      <p:sp>
        <p:nvSpPr>
          <p:cNvPr id="6" name="عنصر نائب لرقم الشريحة 5"/>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3846967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EG"/>
          </a:p>
        </p:txBody>
      </p:sp>
      <p:sp>
        <p:nvSpPr>
          <p:cNvPr id="3" name="عنصر نائب للمحتوى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EG"/>
          </a:p>
        </p:txBody>
      </p:sp>
      <p:sp>
        <p:nvSpPr>
          <p:cNvPr id="4" name="عنصر نائب للتاريخ 3"/>
          <p:cNvSpPr>
            <a:spLocks noGrp="1"/>
          </p:cNvSpPr>
          <p:nvPr>
            <p:ph type="dt" sz="half" idx="10"/>
          </p:nvPr>
        </p:nvSpPr>
        <p:spPr/>
        <p:txBody>
          <a:bodyPr/>
          <a:lstStyle/>
          <a:p>
            <a:fld id="{249DE132-391C-4A07-8452-17269176F924}" type="datetimeFigureOut">
              <a:rPr lang="ar-EG" smtClean="0"/>
              <a:t>21/03/1448</a:t>
            </a:fld>
            <a:endParaRPr lang="ar-EG"/>
          </a:p>
        </p:txBody>
      </p:sp>
      <p:sp>
        <p:nvSpPr>
          <p:cNvPr id="5" name="عنصر نائب للتذييل 4"/>
          <p:cNvSpPr>
            <a:spLocks noGrp="1"/>
          </p:cNvSpPr>
          <p:nvPr>
            <p:ph type="ftr" sz="quarter" idx="11"/>
          </p:nvPr>
        </p:nvSpPr>
        <p:spPr/>
        <p:txBody>
          <a:bodyPr/>
          <a:lstStyle/>
          <a:p>
            <a:endParaRPr lang="ar-EG"/>
          </a:p>
        </p:txBody>
      </p:sp>
      <p:sp>
        <p:nvSpPr>
          <p:cNvPr id="6" name="عنصر نائب لرقم الشريحة 5"/>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1443637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r">
              <a:defRPr sz="4000" b="1" cap="all"/>
            </a:lvl1pPr>
          </a:lstStyle>
          <a:p>
            <a:r>
              <a:rPr lang="ar-SA" smtClean="0"/>
              <a:t>انقر لتحرير نمط العنوان الرئيسي</a:t>
            </a:r>
            <a:endParaRPr lang="ar-EG"/>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smtClean="0"/>
              <a:t>انقر لتحرير أنماط النص الرئيسي</a:t>
            </a:r>
          </a:p>
        </p:txBody>
      </p:sp>
      <p:sp>
        <p:nvSpPr>
          <p:cNvPr id="4" name="عنصر نائب للتاريخ 3"/>
          <p:cNvSpPr>
            <a:spLocks noGrp="1"/>
          </p:cNvSpPr>
          <p:nvPr>
            <p:ph type="dt" sz="half" idx="10"/>
          </p:nvPr>
        </p:nvSpPr>
        <p:spPr/>
        <p:txBody>
          <a:bodyPr/>
          <a:lstStyle/>
          <a:p>
            <a:fld id="{249DE132-391C-4A07-8452-17269176F924}" type="datetimeFigureOut">
              <a:rPr lang="ar-EG" smtClean="0"/>
              <a:t>21/03/1448</a:t>
            </a:fld>
            <a:endParaRPr lang="ar-EG"/>
          </a:p>
        </p:txBody>
      </p:sp>
      <p:sp>
        <p:nvSpPr>
          <p:cNvPr id="5" name="عنصر نائب للتذييل 4"/>
          <p:cNvSpPr>
            <a:spLocks noGrp="1"/>
          </p:cNvSpPr>
          <p:nvPr>
            <p:ph type="ftr" sz="quarter" idx="11"/>
          </p:nvPr>
        </p:nvSpPr>
        <p:spPr/>
        <p:txBody>
          <a:bodyPr/>
          <a:lstStyle/>
          <a:p>
            <a:endParaRPr lang="ar-EG"/>
          </a:p>
        </p:txBody>
      </p:sp>
      <p:sp>
        <p:nvSpPr>
          <p:cNvPr id="6" name="عنصر نائب لرقم الشريحة 5"/>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2191692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EG"/>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EG"/>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EG"/>
          </a:p>
        </p:txBody>
      </p:sp>
      <p:sp>
        <p:nvSpPr>
          <p:cNvPr id="5" name="عنصر نائب للتاريخ 4"/>
          <p:cNvSpPr>
            <a:spLocks noGrp="1"/>
          </p:cNvSpPr>
          <p:nvPr>
            <p:ph type="dt" sz="half" idx="10"/>
          </p:nvPr>
        </p:nvSpPr>
        <p:spPr/>
        <p:txBody>
          <a:bodyPr/>
          <a:lstStyle/>
          <a:p>
            <a:fld id="{249DE132-391C-4A07-8452-17269176F924}" type="datetimeFigureOut">
              <a:rPr lang="ar-EG" smtClean="0"/>
              <a:t>21/03/1448</a:t>
            </a:fld>
            <a:endParaRPr lang="ar-EG"/>
          </a:p>
        </p:txBody>
      </p:sp>
      <p:sp>
        <p:nvSpPr>
          <p:cNvPr id="6" name="عنصر نائب للتذييل 5"/>
          <p:cNvSpPr>
            <a:spLocks noGrp="1"/>
          </p:cNvSpPr>
          <p:nvPr>
            <p:ph type="ftr" sz="quarter" idx="11"/>
          </p:nvPr>
        </p:nvSpPr>
        <p:spPr/>
        <p:txBody>
          <a:bodyPr/>
          <a:lstStyle/>
          <a:p>
            <a:endParaRPr lang="ar-EG"/>
          </a:p>
        </p:txBody>
      </p:sp>
      <p:sp>
        <p:nvSpPr>
          <p:cNvPr id="7" name="عنصر نائب لرقم الشريحة 6"/>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2813279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smtClean="0"/>
              <a:t>انقر لتحرير نمط العنوان الرئيسي</a:t>
            </a:r>
            <a:endParaRPr lang="ar-EG"/>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EG"/>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EG"/>
          </a:p>
        </p:txBody>
      </p:sp>
      <p:sp>
        <p:nvSpPr>
          <p:cNvPr id="7" name="عنصر نائب للتاريخ 6"/>
          <p:cNvSpPr>
            <a:spLocks noGrp="1"/>
          </p:cNvSpPr>
          <p:nvPr>
            <p:ph type="dt" sz="half" idx="10"/>
          </p:nvPr>
        </p:nvSpPr>
        <p:spPr/>
        <p:txBody>
          <a:bodyPr/>
          <a:lstStyle/>
          <a:p>
            <a:fld id="{249DE132-391C-4A07-8452-17269176F924}" type="datetimeFigureOut">
              <a:rPr lang="ar-EG" smtClean="0"/>
              <a:t>21/03/1448</a:t>
            </a:fld>
            <a:endParaRPr lang="ar-EG"/>
          </a:p>
        </p:txBody>
      </p:sp>
      <p:sp>
        <p:nvSpPr>
          <p:cNvPr id="8" name="عنصر نائب للتذييل 7"/>
          <p:cNvSpPr>
            <a:spLocks noGrp="1"/>
          </p:cNvSpPr>
          <p:nvPr>
            <p:ph type="ftr" sz="quarter" idx="11"/>
          </p:nvPr>
        </p:nvSpPr>
        <p:spPr/>
        <p:txBody>
          <a:bodyPr/>
          <a:lstStyle/>
          <a:p>
            <a:endParaRPr lang="ar-EG"/>
          </a:p>
        </p:txBody>
      </p:sp>
      <p:sp>
        <p:nvSpPr>
          <p:cNvPr id="9" name="عنصر نائب لرقم الشريحة 8"/>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3237125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EG"/>
          </a:p>
        </p:txBody>
      </p:sp>
      <p:sp>
        <p:nvSpPr>
          <p:cNvPr id="3" name="عنصر نائب للتاريخ 2"/>
          <p:cNvSpPr>
            <a:spLocks noGrp="1"/>
          </p:cNvSpPr>
          <p:nvPr>
            <p:ph type="dt" sz="half" idx="10"/>
          </p:nvPr>
        </p:nvSpPr>
        <p:spPr/>
        <p:txBody>
          <a:bodyPr/>
          <a:lstStyle/>
          <a:p>
            <a:fld id="{249DE132-391C-4A07-8452-17269176F924}" type="datetimeFigureOut">
              <a:rPr lang="ar-EG" smtClean="0"/>
              <a:t>21/03/1448</a:t>
            </a:fld>
            <a:endParaRPr lang="ar-EG"/>
          </a:p>
        </p:txBody>
      </p:sp>
      <p:sp>
        <p:nvSpPr>
          <p:cNvPr id="4" name="عنصر نائب للتذييل 3"/>
          <p:cNvSpPr>
            <a:spLocks noGrp="1"/>
          </p:cNvSpPr>
          <p:nvPr>
            <p:ph type="ftr" sz="quarter" idx="11"/>
          </p:nvPr>
        </p:nvSpPr>
        <p:spPr/>
        <p:txBody>
          <a:bodyPr/>
          <a:lstStyle/>
          <a:p>
            <a:endParaRPr lang="ar-EG"/>
          </a:p>
        </p:txBody>
      </p:sp>
      <p:sp>
        <p:nvSpPr>
          <p:cNvPr id="5" name="عنصر نائب لرقم الشريحة 4"/>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4149269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249DE132-391C-4A07-8452-17269176F924}" type="datetimeFigureOut">
              <a:rPr lang="ar-EG" smtClean="0"/>
              <a:t>21/03/1448</a:t>
            </a:fld>
            <a:endParaRPr lang="ar-EG"/>
          </a:p>
        </p:txBody>
      </p:sp>
      <p:sp>
        <p:nvSpPr>
          <p:cNvPr id="3" name="عنصر نائب للتذييل 2"/>
          <p:cNvSpPr>
            <a:spLocks noGrp="1"/>
          </p:cNvSpPr>
          <p:nvPr>
            <p:ph type="ftr" sz="quarter" idx="11"/>
          </p:nvPr>
        </p:nvSpPr>
        <p:spPr/>
        <p:txBody>
          <a:bodyPr/>
          <a:lstStyle/>
          <a:p>
            <a:endParaRPr lang="ar-EG"/>
          </a:p>
        </p:txBody>
      </p:sp>
      <p:sp>
        <p:nvSpPr>
          <p:cNvPr id="4" name="عنصر نائب لرقم الشريحة 3"/>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4209476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r">
              <a:defRPr sz="2000" b="1"/>
            </a:lvl1pPr>
          </a:lstStyle>
          <a:p>
            <a:r>
              <a:rPr lang="ar-SA" smtClean="0"/>
              <a:t>انقر لتحرير نمط العنوان الرئيسي</a:t>
            </a:r>
            <a:endParaRPr lang="ar-EG"/>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EG"/>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249DE132-391C-4A07-8452-17269176F924}" type="datetimeFigureOut">
              <a:rPr lang="ar-EG" smtClean="0"/>
              <a:t>21/03/1448</a:t>
            </a:fld>
            <a:endParaRPr lang="ar-EG"/>
          </a:p>
        </p:txBody>
      </p:sp>
      <p:sp>
        <p:nvSpPr>
          <p:cNvPr id="6" name="عنصر نائب للتذييل 5"/>
          <p:cNvSpPr>
            <a:spLocks noGrp="1"/>
          </p:cNvSpPr>
          <p:nvPr>
            <p:ph type="ftr" sz="quarter" idx="11"/>
          </p:nvPr>
        </p:nvSpPr>
        <p:spPr/>
        <p:txBody>
          <a:bodyPr/>
          <a:lstStyle/>
          <a:p>
            <a:endParaRPr lang="ar-EG"/>
          </a:p>
        </p:txBody>
      </p:sp>
      <p:sp>
        <p:nvSpPr>
          <p:cNvPr id="7" name="عنصر نائب لرقم الشريحة 6"/>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2617131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r">
              <a:defRPr sz="2000" b="1"/>
            </a:lvl1pPr>
          </a:lstStyle>
          <a:p>
            <a:r>
              <a:rPr lang="ar-SA" smtClean="0"/>
              <a:t>انقر لتحرير نمط العنوان الرئيسي</a:t>
            </a:r>
            <a:endParaRPr lang="ar-EG"/>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EG"/>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249DE132-391C-4A07-8452-17269176F924}" type="datetimeFigureOut">
              <a:rPr lang="ar-EG" smtClean="0"/>
              <a:t>21/03/1448</a:t>
            </a:fld>
            <a:endParaRPr lang="ar-EG"/>
          </a:p>
        </p:txBody>
      </p:sp>
      <p:sp>
        <p:nvSpPr>
          <p:cNvPr id="6" name="عنصر نائب للتذييل 5"/>
          <p:cNvSpPr>
            <a:spLocks noGrp="1"/>
          </p:cNvSpPr>
          <p:nvPr>
            <p:ph type="ftr" sz="quarter" idx="11"/>
          </p:nvPr>
        </p:nvSpPr>
        <p:spPr/>
        <p:txBody>
          <a:bodyPr/>
          <a:lstStyle/>
          <a:p>
            <a:endParaRPr lang="ar-EG"/>
          </a:p>
        </p:txBody>
      </p:sp>
      <p:sp>
        <p:nvSpPr>
          <p:cNvPr id="7" name="عنصر نائب لرقم الشريحة 6"/>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1726885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EG"/>
          </a:p>
        </p:txBody>
      </p:sp>
      <p:sp>
        <p:nvSpPr>
          <p:cNvPr id="3" name="عنصر نائب للعنوان العمودي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EG"/>
          </a:p>
        </p:txBody>
      </p:sp>
      <p:sp>
        <p:nvSpPr>
          <p:cNvPr id="4" name="عنصر نائب للتاريخ 3"/>
          <p:cNvSpPr>
            <a:spLocks noGrp="1"/>
          </p:cNvSpPr>
          <p:nvPr>
            <p:ph type="dt" sz="half" idx="10"/>
          </p:nvPr>
        </p:nvSpPr>
        <p:spPr/>
        <p:txBody>
          <a:bodyPr/>
          <a:lstStyle/>
          <a:p>
            <a:fld id="{249DE132-391C-4A07-8452-17269176F924}" type="datetimeFigureOut">
              <a:rPr lang="ar-EG" smtClean="0"/>
              <a:t>21/03/1448</a:t>
            </a:fld>
            <a:endParaRPr lang="ar-EG"/>
          </a:p>
        </p:txBody>
      </p:sp>
      <p:sp>
        <p:nvSpPr>
          <p:cNvPr id="5" name="عنصر نائب للتذييل 4"/>
          <p:cNvSpPr>
            <a:spLocks noGrp="1"/>
          </p:cNvSpPr>
          <p:nvPr>
            <p:ph type="ftr" sz="quarter" idx="11"/>
          </p:nvPr>
        </p:nvSpPr>
        <p:spPr/>
        <p:txBody>
          <a:bodyPr/>
          <a:lstStyle/>
          <a:p>
            <a:endParaRPr lang="ar-EG"/>
          </a:p>
        </p:txBody>
      </p:sp>
      <p:sp>
        <p:nvSpPr>
          <p:cNvPr id="6" name="عنصر نائب لرقم الشريحة 5"/>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4131907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smtClean="0"/>
              <a:t>انقر لتحرير نمط العنوان الرئيسي</a:t>
            </a:r>
            <a:endParaRPr lang="ar-EG"/>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EG"/>
          </a:p>
        </p:txBody>
      </p:sp>
      <p:sp>
        <p:nvSpPr>
          <p:cNvPr id="4" name="عنصر نائب للتاريخ 3"/>
          <p:cNvSpPr>
            <a:spLocks noGrp="1"/>
          </p:cNvSpPr>
          <p:nvPr>
            <p:ph type="dt" sz="half" idx="10"/>
          </p:nvPr>
        </p:nvSpPr>
        <p:spPr/>
        <p:txBody>
          <a:bodyPr/>
          <a:lstStyle/>
          <a:p>
            <a:fld id="{249DE132-391C-4A07-8452-17269176F924}" type="datetimeFigureOut">
              <a:rPr lang="ar-EG" smtClean="0"/>
              <a:t>21/03/1448</a:t>
            </a:fld>
            <a:endParaRPr lang="ar-EG"/>
          </a:p>
        </p:txBody>
      </p:sp>
      <p:sp>
        <p:nvSpPr>
          <p:cNvPr id="5" name="عنصر نائب للتذييل 4"/>
          <p:cNvSpPr>
            <a:spLocks noGrp="1"/>
          </p:cNvSpPr>
          <p:nvPr>
            <p:ph type="ftr" sz="quarter" idx="11"/>
          </p:nvPr>
        </p:nvSpPr>
        <p:spPr/>
        <p:txBody>
          <a:bodyPr/>
          <a:lstStyle/>
          <a:p>
            <a:endParaRPr lang="ar-EG"/>
          </a:p>
        </p:txBody>
      </p:sp>
      <p:sp>
        <p:nvSpPr>
          <p:cNvPr id="6" name="عنصر نائب لرقم الشريحة 5"/>
          <p:cNvSpPr>
            <a:spLocks noGrp="1"/>
          </p:cNvSpPr>
          <p:nvPr>
            <p:ph type="sldNum" sz="quarter" idx="12"/>
          </p:nvPr>
        </p:nvSpPr>
        <p:spPr/>
        <p:txBody>
          <a:bodyPr/>
          <a:lstStyle/>
          <a:p>
            <a:fld id="{E0E2186A-9487-4AC3-A3F9-F0DBC8B113A4}" type="slidenum">
              <a:rPr lang="ar-EG" smtClean="0"/>
              <a:t>‹#›</a:t>
            </a:fld>
            <a:endParaRPr lang="ar-EG"/>
          </a:p>
        </p:txBody>
      </p:sp>
    </p:spTree>
    <p:extLst>
      <p:ext uri="{BB962C8B-B14F-4D97-AF65-F5344CB8AC3E}">
        <p14:creationId xmlns:p14="http://schemas.microsoft.com/office/powerpoint/2010/main" val="322446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ar-SA" smtClean="0"/>
              <a:t>انقر لتحرير نمط العنوان الرئيسي</a:t>
            </a:r>
            <a:endParaRPr lang="ar-EG"/>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EG"/>
          </a:p>
        </p:txBody>
      </p:sp>
      <p:sp>
        <p:nvSpPr>
          <p:cNvPr id="4" name="عنصر نائب للتاريخ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249DE132-391C-4A07-8452-17269176F924}" type="datetimeFigureOut">
              <a:rPr lang="ar-EG" smtClean="0"/>
              <a:t>21/03/1448</a:t>
            </a:fld>
            <a:endParaRPr lang="ar-EG"/>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EG"/>
          </a:p>
        </p:txBody>
      </p:sp>
      <p:sp>
        <p:nvSpPr>
          <p:cNvPr id="6" name="عنصر نائب لرقم الشريحة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E0E2186A-9487-4AC3-A3F9-F0DBC8B113A4}" type="slidenum">
              <a:rPr lang="ar-EG" smtClean="0"/>
              <a:t>‹#›</a:t>
            </a:fld>
            <a:endParaRPr lang="ar-EG"/>
          </a:p>
        </p:txBody>
      </p:sp>
    </p:spTree>
    <p:extLst>
      <p:ext uri="{BB962C8B-B14F-4D97-AF65-F5344CB8AC3E}">
        <p14:creationId xmlns:p14="http://schemas.microsoft.com/office/powerpoint/2010/main" val="26052502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755576" y="692696"/>
            <a:ext cx="7772400" cy="1470025"/>
          </a:xfrm>
        </p:spPr>
        <p:txBody>
          <a:bodyPr/>
          <a:lstStyle/>
          <a:p>
            <a:r>
              <a:rPr lang="en-US" dirty="0" smtClean="0"/>
              <a:t>UART(</a:t>
            </a:r>
            <a:r>
              <a:rPr lang="en-US" dirty="0" err="1" smtClean="0"/>
              <a:t>tx</a:t>
            </a:r>
            <a:r>
              <a:rPr lang="en-US" dirty="0" smtClean="0"/>
              <a:t>)</a:t>
            </a:r>
            <a:endParaRPr lang="ar-EG" dirty="0"/>
          </a:p>
        </p:txBody>
      </p:sp>
      <p:sp>
        <p:nvSpPr>
          <p:cNvPr id="3" name="عنوان فرعي 2"/>
          <p:cNvSpPr>
            <a:spLocks noGrp="1"/>
          </p:cNvSpPr>
          <p:nvPr>
            <p:ph type="subTitle" idx="1"/>
          </p:nvPr>
        </p:nvSpPr>
        <p:spPr>
          <a:xfrm>
            <a:off x="179512" y="2276872"/>
            <a:ext cx="8712968" cy="1752600"/>
          </a:xfrm>
        </p:spPr>
        <p:txBody>
          <a:bodyPr>
            <a:normAutofit/>
          </a:bodyPr>
          <a:lstStyle/>
          <a:p>
            <a:r>
              <a:rPr lang="en-US" b="1" dirty="0" smtClean="0">
                <a:solidFill>
                  <a:schemeClr val="tx1"/>
                </a:solidFill>
              </a:rPr>
              <a:t>Universal Asynchronous Receiver / Transmitter</a:t>
            </a:r>
            <a:r>
              <a:rPr lang="en-US" b="1" dirty="0" smtClean="0">
                <a:solidFill>
                  <a:srgbClr val="FF0000"/>
                </a:solidFill>
              </a:rPr>
              <a:t> </a:t>
            </a:r>
            <a:r>
              <a:rPr lang="en-US" dirty="0" smtClean="0">
                <a:solidFill>
                  <a:schemeClr val="tx1">
                    <a:lumMod val="65000"/>
                    <a:lumOff val="35000"/>
                  </a:schemeClr>
                </a:solidFill>
              </a:rPr>
              <a:t>RTL Design, </a:t>
            </a:r>
            <a:r>
              <a:rPr lang="en-US" dirty="0" err="1" smtClean="0">
                <a:solidFill>
                  <a:schemeClr val="tx1">
                    <a:lumMod val="65000"/>
                    <a:lumOff val="35000"/>
                  </a:schemeClr>
                </a:solidFill>
              </a:rPr>
              <a:t>Testbench</a:t>
            </a:r>
            <a:r>
              <a:rPr lang="en-US" dirty="0" smtClean="0">
                <a:solidFill>
                  <a:schemeClr val="tx1">
                    <a:lumMod val="65000"/>
                    <a:lumOff val="35000"/>
                  </a:schemeClr>
                </a:solidFill>
              </a:rPr>
              <a:t> Development &amp; Functional </a:t>
            </a:r>
            <a:r>
              <a:rPr lang="en-US" dirty="0" smtClean="0"/>
              <a:t>Verification Report </a:t>
            </a:r>
            <a:endParaRPr lang="ar-EG" dirty="0"/>
          </a:p>
        </p:txBody>
      </p:sp>
      <p:sp>
        <p:nvSpPr>
          <p:cNvPr id="4" name="مربع نص 3"/>
          <p:cNvSpPr txBox="1"/>
          <p:nvPr/>
        </p:nvSpPr>
        <p:spPr>
          <a:xfrm>
            <a:off x="1054742" y="3933056"/>
            <a:ext cx="6840760" cy="800219"/>
          </a:xfrm>
          <a:prstGeom prst="rect">
            <a:avLst/>
          </a:prstGeom>
          <a:noFill/>
        </p:spPr>
        <p:txBody>
          <a:bodyPr wrap="square" rtlCol="1">
            <a:spAutoFit/>
          </a:bodyPr>
          <a:lstStyle/>
          <a:p>
            <a:pPr algn="l"/>
            <a:r>
              <a:rPr lang="en-US" sz="2800" b="1" dirty="0">
                <a:solidFill>
                  <a:prstClr val="black"/>
                </a:solidFill>
              </a:rPr>
              <a:t>Name/ Mahmoud </a:t>
            </a:r>
            <a:r>
              <a:rPr lang="en-US" sz="2800" b="1" dirty="0" err="1">
                <a:solidFill>
                  <a:prstClr val="black"/>
                </a:solidFill>
              </a:rPr>
              <a:t>Shawky</a:t>
            </a:r>
            <a:endParaRPr lang="en-US" sz="2800" b="1" dirty="0">
              <a:solidFill>
                <a:prstClr val="black"/>
              </a:solidFill>
            </a:endParaRPr>
          </a:p>
          <a:p>
            <a:pPr algn="l"/>
            <a:r>
              <a:rPr lang="en-US" b="1" dirty="0">
                <a:solidFill>
                  <a:prstClr val="black"/>
                </a:solidFill>
              </a:rPr>
              <a:t>S26-B8-FPGA-G8 </a:t>
            </a:r>
            <a:endParaRPr lang="ar-EG" b="1" dirty="0">
              <a:solidFill>
                <a:prstClr val="black"/>
              </a:solidFill>
            </a:endParaRPr>
          </a:p>
        </p:txBody>
      </p:sp>
    </p:spTree>
    <p:extLst>
      <p:ext uri="{BB962C8B-B14F-4D97-AF65-F5344CB8AC3E}">
        <p14:creationId xmlns:p14="http://schemas.microsoft.com/office/powerpoint/2010/main" val="2010051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43204" y="1124744"/>
            <a:ext cx="756084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1" eaLnBrk="1" fontAlgn="base" latinLnBrk="0" hangingPunct="1">
              <a:lnSpc>
                <a:spcPct val="150000"/>
              </a:lnSpc>
              <a:spcBef>
                <a:spcPct val="0"/>
              </a:spcBef>
              <a:spcAft>
                <a:spcPct val="0"/>
              </a:spcAft>
              <a:buClrTx/>
              <a:buSzTx/>
              <a:tabLst/>
            </a:pPr>
            <a:endParaRPr kumimoji="0" lang="ar-EG" sz="2000" b="1" i="0" u="none" strike="noStrike" cap="none" normalizeH="0" baseline="0" dirty="0" smtClean="0">
              <a:ln>
                <a:noFill/>
              </a:ln>
              <a:solidFill>
                <a:schemeClr val="tx1"/>
              </a:solidFill>
              <a:effectLst/>
              <a:latin typeface="Arial" charset="0"/>
              <a:cs typeface="Arial" charset="0"/>
            </a:endParaRPr>
          </a:p>
          <a:p>
            <a:pPr lvl="0" algn="l" fontAlgn="base">
              <a:lnSpc>
                <a:spcPct val="150000"/>
              </a:lnSpc>
              <a:spcBef>
                <a:spcPct val="0"/>
              </a:spcBef>
              <a:spcAft>
                <a:spcPct val="0"/>
              </a:spcAft>
            </a:pPr>
            <a:r>
              <a:rPr lang="en-US" sz="2000" b="1" dirty="0" smtClean="0"/>
              <a:t>Design a configurable UART </a:t>
            </a:r>
            <a:r>
              <a:rPr lang="en-US" sz="2000" b="1" dirty="0" err="1" smtClean="0"/>
              <a:t>Transmiter</a:t>
            </a:r>
            <a:r>
              <a:rPr lang="en-US" sz="2000" b="1" dirty="0" smtClean="0"/>
              <a:t>. </a:t>
            </a:r>
          </a:p>
          <a:p>
            <a:pPr lvl="0" algn="l" fontAlgn="base">
              <a:lnSpc>
                <a:spcPct val="150000"/>
              </a:lnSpc>
              <a:spcBef>
                <a:spcPct val="0"/>
              </a:spcBef>
              <a:spcAft>
                <a:spcPct val="0"/>
              </a:spcAft>
            </a:pPr>
            <a:r>
              <a:rPr lang="en-US" sz="2000" b="1" dirty="0" smtClean="0"/>
              <a:t>Transmit 8-bit parallel data serially. </a:t>
            </a:r>
          </a:p>
          <a:p>
            <a:pPr lvl="0" algn="l" fontAlgn="base">
              <a:lnSpc>
                <a:spcPct val="150000"/>
              </a:lnSpc>
              <a:spcBef>
                <a:spcPct val="0"/>
              </a:spcBef>
              <a:spcAft>
                <a:spcPct val="0"/>
              </a:spcAft>
            </a:pPr>
            <a:r>
              <a:rPr lang="en-US" sz="2000" b="1" dirty="0" smtClean="0"/>
              <a:t>Support optional parity bit.</a:t>
            </a:r>
          </a:p>
          <a:p>
            <a:pPr lvl="0" algn="l" fontAlgn="base">
              <a:lnSpc>
                <a:spcPct val="150000"/>
              </a:lnSpc>
              <a:spcBef>
                <a:spcPct val="0"/>
              </a:spcBef>
              <a:spcAft>
                <a:spcPct val="0"/>
              </a:spcAft>
            </a:pPr>
            <a:r>
              <a:rPr lang="en-US" sz="2000" b="1" dirty="0" smtClean="0"/>
              <a:t> Support Even and Odd parity.</a:t>
            </a:r>
          </a:p>
          <a:p>
            <a:pPr lvl="0" algn="l" fontAlgn="base">
              <a:lnSpc>
                <a:spcPct val="150000"/>
              </a:lnSpc>
              <a:spcBef>
                <a:spcPct val="0"/>
              </a:spcBef>
              <a:spcAft>
                <a:spcPct val="0"/>
              </a:spcAft>
            </a:pPr>
            <a:r>
              <a:rPr lang="en-US" sz="2000" b="1" dirty="0" smtClean="0"/>
              <a:t> Generate Start and Stop bits.</a:t>
            </a:r>
          </a:p>
          <a:p>
            <a:pPr lvl="0" algn="l" fontAlgn="base">
              <a:lnSpc>
                <a:spcPct val="150000"/>
              </a:lnSpc>
              <a:spcBef>
                <a:spcPct val="0"/>
              </a:spcBef>
              <a:spcAft>
                <a:spcPct val="0"/>
              </a:spcAft>
            </a:pPr>
            <a:r>
              <a:rPr lang="en-US" sz="2000" b="1" dirty="0" smtClean="0"/>
              <a:t> Control transmission using an FSM.</a:t>
            </a:r>
            <a:r>
              <a:rPr kumimoji="0" lang="ar-EG" sz="2000" b="1" i="0" u="none" strike="noStrike" cap="none" normalizeH="0" baseline="0" dirty="0" smtClean="0">
                <a:ln>
                  <a:noFill/>
                </a:ln>
                <a:solidFill>
                  <a:schemeClr val="tx1"/>
                </a:solidFill>
                <a:effectLst/>
                <a:latin typeface="Arial" charset="0"/>
                <a:cs typeface="Arial" charset="0"/>
              </a:rPr>
              <a:t> </a:t>
            </a:r>
          </a:p>
        </p:txBody>
      </p:sp>
      <p:sp>
        <p:nvSpPr>
          <p:cNvPr id="5" name="مستطيل 4"/>
          <p:cNvSpPr/>
          <p:nvPr/>
        </p:nvSpPr>
        <p:spPr>
          <a:xfrm>
            <a:off x="3026882" y="388234"/>
            <a:ext cx="2341731" cy="584775"/>
          </a:xfrm>
          <a:prstGeom prst="rect">
            <a:avLst/>
          </a:prstGeom>
        </p:spPr>
        <p:txBody>
          <a:bodyPr wrap="none">
            <a:spAutoFit/>
          </a:bodyPr>
          <a:lstStyle/>
          <a:p>
            <a:r>
              <a:rPr lang="en-US" sz="3200" b="1" dirty="0" err="1" smtClean="0"/>
              <a:t>Objective_tx</a:t>
            </a:r>
            <a:endParaRPr lang="ar-EG" sz="3200"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911782"/>
            <a:ext cx="4396833" cy="2536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8201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US" b="1" i="0" u="none" strike="noStrike" cap="none" dirty="0" err="1" smtClean="0">
                <a:solidFill>
                  <a:srgbClr val="1E2328"/>
                </a:solidFill>
                <a:latin typeface="Cambria"/>
                <a:ea typeface="Cambria"/>
                <a:cs typeface="Cambria"/>
                <a:sym typeface="Cambria"/>
              </a:rPr>
              <a:t>uart_tx</a:t>
            </a:r>
            <a:r>
              <a:rPr lang="en-US" b="1" i="0" u="none" strike="noStrike" cap="none" dirty="0" smtClean="0">
                <a:solidFill>
                  <a:srgbClr val="1E2328"/>
                </a:solidFill>
                <a:latin typeface="Cambria"/>
                <a:ea typeface="Cambria"/>
                <a:cs typeface="Cambria"/>
                <a:sym typeface="Cambria"/>
              </a:rPr>
              <a:t> — Required </a:t>
            </a:r>
            <a:r>
              <a:rPr lang="en-US" b="1" i="0" u="none" strike="noStrike" cap="none" dirty="0" err="1" smtClean="0">
                <a:solidFill>
                  <a:srgbClr val="1E2328"/>
                </a:solidFill>
                <a:latin typeface="Cambria"/>
                <a:ea typeface="Cambria"/>
                <a:cs typeface="Cambria"/>
                <a:sym typeface="Cambria"/>
              </a:rPr>
              <a:t>Behaviour</a:t>
            </a:r>
            <a:r>
              <a:rPr lang="en-US" dirty="0" smtClean="0">
                <a:solidFill>
                  <a:schemeClr val="dk1"/>
                </a:solidFill>
                <a:ea typeface="Calibri"/>
                <a:cs typeface="Calibri"/>
                <a:sym typeface="Calibri"/>
              </a:rPr>
              <a:t/>
            </a:r>
            <a:br>
              <a:rPr lang="en-US" dirty="0" smtClean="0">
                <a:solidFill>
                  <a:schemeClr val="dk1"/>
                </a:solidFill>
                <a:ea typeface="Calibri"/>
                <a:cs typeface="Calibri"/>
                <a:sym typeface="Calibri"/>
              </a:rPr>
            </a:br>
            <a:endParaRPr lang="ar-EG" dirty="0"/>
          </a:p>
        </p:txBody>
      </p:sp>
      <p:sp>
        <p:nvSpPr>
          <p:cNvPr id="3" name="عنصر نائب للمحتوى 2"/>
          <p:cNvSpPr>
            <a:spLocks noGrp="1"/>
          </p:cNvSpPr>
          <p:nvPr>
            <p:ph idx="1"/>
          </p:nvPr>
        </p:nvSpPr>
        <p:spPr>
          <a:xfrm>
            <a:off x="457200" y="1600201"/>
            <a:ext cx="7715200" cy="2836912"/>
          </a:xfrm>
        </p:spPr>
        <p:txBody>
          <a:bodyPr>
            <a:normAutofit fontScale="47500" lnSpcReduction="20000"/>
          </a:bodyPr>
          <a:lstStyle/>
          <a:p>
            <a:pPr lvl="0" algn="l" rtl="0">
              <a:spcBef>
                <a:spcPts val="0"/>
              </a:spcBef>
              <a:buClr>
                <a:srgbClr val="1E2328"/>
              </a:buClr>
              <a:buSzPts val="1600"/>
              <a:buFont typeface="Calibri"/>
              <a:buChar char="•"/>
            </a:pPr>
            <a:r>
              <a:rPr lang="en-US" dirty="0">
                <a:solidFill>
                  <a:srgbClr val="1E2328"/>
                </a:solidFill>
                <a:ea typeface="Calibri"/>
                <a:cs typeface="Calibri"/>
                <a:sym typeface="Calibri"/>
              </a:rPr>
              <a:t>Out of reset: </a:t>
            </a:r>
            <a:r>
              <a:rPr lang="en-US" dirty="0" err="1">
                <a:solidFill>
                  <a:srgbClr val="1E2328"/>
                </a:solidFill>
                <a:ea typeface="Calibri"/>
                <a:cs typeface="Calibri"/>
                <a:sym typeface="Calibri"/>
              </a:rPr>
              <a:t>o_tx</a:t>
            </a:r>
            <a:r>
              <a:rPr lang="en-US" dirty="0">
                <a:solidFill>
                  <a:srgbClr val="1E2328"/>
                </a:solidFill>
                <a:ea typeface="Calibri"/>
                <a:cs typeface="Calibri"/>
                <a:sym typeface="Calibri"/>
              </a:rPr>
              <a:t> = 1, </a:t>
            </a:r>
            <a:r>
              <a:rPr lang="en-US" dirty="0" err="1">
                <a:solidFill>
                  <a:srgbClr val="1E2328"/>
                </a:solidFill>
                <a:ea typeface="Calibri"/>
                <a:cs typeface="Calibri"/>
                <a:sym typeface="Calibri"/>
              </a:rPr>
              <a:t>o_busy</a:t>
            </a:r>
            <a:r>
              <a:rPr lang="en-US" dirty="0">
                <a:solidFill>
                  <a:srgbClr val="1E2328"/>
                </a:solidFill>
                <a:ea typeface="Calibri"/>
                <a:cs typeface="Calibri"/>
                <a:sym typeface="Calibri"/>
              </a:rPr>
              <a:t> = 0</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a:solidFill>
                  <a:srgbClr val="1E2328"/>
                </a:solidFill>
                <a:ea typeface="Calibri"/>
                <a:cs typeface="Calibri"/>
                <a:sym typeface="Calibri"/>
              </a:rPr>
              <a:t>A byte is accepted only when </a:t>
            </a:r>
            <a:r>
              <a:rPr lang="en-US" dirty="0" err="1">
                <a:solidFill>
                  <a:srgbClr val="1E2328"/>
                </a:solidFill>
                <a:ea typeface="Calibri"/>
                <a:cs typeface="Calibri"/>
                <a:sym typeface="Calibri"/>
              </a:rPr>
              <a:t>i_valid</a:t>
            </a:r>
            <a:r>
              <a:rPr lang="en-US" dirty="0">
                <a:solidFill>
                  <a:srgbClr val="1E2328"/>
                </a:solidFill>
                <a:ea typeface="Calibri"/>
                <a:cs typeface="Calibri"/>
                <a:sym typeface="Calibri"/>
              </a:rPr>
              <a:t> = 1 AND </a:t>
            </a:r>
            <a:r>
              <a:rPr lang="en-US" dirty="0" err="1">
                <a:solidFill>
                  <a:srgbClr val="1E2328"/>
                </a:solidFill>
                <a:ea typeface="Calibri"/>
                <a:cs typeface="Calibri"/>
                <a:sym typeface="Calibri"/>
              </a:rPr>
              <a:t>o_busy</a:t>
            </a:r>
            <a:r>
              <a:rPr lang="en-US" dirty="0">
                <a:solidFill>
                  <a:srgbClr val="1E2328"/>
                </a:solidFill>
                <a:ea typeface="Calibri"/>
                <a:cs typeface="Calibri"/>
                <a:sym typeface="Calibri"/>
              </a:rPr>
              <a:t> = 0 — same cycle, both true</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err="1">
                <a:solidFill>
                  <a:srgbClr val="1E2328"/>
                </a:solidFill>
                <a:ea typeface="Calibri"/>
                <a:cs typeface="Calibri"/>
                <a:sym typeface="Calibri"/>
              </a:rPr>
              <a:t>i_valid</a:t>
            </a:r>
            <a:r>
              <a:rPr lang="en-US" dirty="0">
                <a:solidFill>
                  <a:srgbClr val="1E2328"/>
                </a:solidFill>
                <a:ea typeface="Calibri"/>
                <a:cs typeface="Calibri"/>
                <a:sym typeface="Calibri"/>
              </a:rPr>
              <a:t> while </a:t>
            </a:r>
            <a:r>
              <a:rPr lang="en-US" dirty="0" err="1">
                <a:solidFill>
                  <a:srgbClr val="1E2328"/>
                </a:solidFill>
                <a:ea typeface="Calibri"/>
                <a:cs typeface="Calibri"/>
                <a:sym typeface="Calibri"/>
              </a:rPr>
              <a:t>o_busy</a:t>
            </a:r>
            <a:r>
              <a:rPr lang="en-US" dirty="0">
                <a:solidFill>
                  <a:srgbClr val="1E2328"/>
                </a:solidFill>
                <a:ea typeface="Calibri"/>
                <a:cs typeface="Calibri"/>
                <a:sym typeface="Calibri"/>
              </a:rPr>
              <a:t> = 1 is ignored — no queuing</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a:solidFill>
                  <a:srgbClr val="1E2328"/>
                </a:solidFill>
                <a:ea typeface="Calibri"/>
                <a:cs typeface="Calibri"/>
                <a:sym typeface="Calibri"/>
              </a:rPr>
              <a:t>After acceptance, </a:t>
            </a:r>
            <a:r>
              <a:rPr lang="en-US" dirty="0" err="1">
                <a:solidFill>
                  <a:srgbClr val="1E2328"/>
                </a:solidFill>
                <a:ea typeface="Calibri"/>
                <a:cs typeface="Calibri"/>
                <a:sym typeface="Calibri"/>
              </a:rPr>
              <a:t>o_tx</a:t>
            </a:r>
            <a:r>
              <a:rPr lang="en-US" dirty="0">
                <a:solidFill>
                  <a:srgbClr val="1E2328"/>
                </a:solidFill>
                <a:ea typeface="Calibri"/>
                <a:cs typeface="Calibri"/>
                <a:sym typeface="Calibri"/>
              </a:rPr>
              <a:t> carries the frame one bit per cycle, then returns to idle-high</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err="1">
                <a:solidFill>
                  <a:srgbClr val="1E2328"/>
                </a:solidFill>
                <a:ea typeface="Calibri"/>
                <a:cs typeface="Calibri"/>
                <a:sym typeface="Calibri"/>
              </a:rPr>
              <a:t>o_busy</a:t>
            </a:r>
            <a:r>
              <a:rPr lang="en-US" dirty="0">
                <a:solidFill>
                  <a:srgbClr val="1E2328"/>
                </a:solidFill>
                <a:ea typeface="Calibri"/>
                <a:cs typeface="Calibri"/>
                <a:sym typeface="Calibri"/>
              </a:rPr>
              <a:t> = 1 for exactly the frame duration (10 or 11 cycles), 0 otherwise</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a:solidFill>
                  <a:srgbClr val="1E2328"/>
                </a:solidFill>
                <a:ea typeface="Calibri"/>
                <a:cs typeface="Calibri"/>
                <a:sym typeface="Calibri"/>
              </a:rPr>
              <a:t>Changing </a:t>
            </a:r>
            <a:r>
              <a:rPr lang="en-US" dirty="0" err="1">
                <a:solidFill>
                  <a:srgbClr val="1E2328"/>
                </a:solidFill>
                <a:ea typeface="Calibri"/>
                <a:cs typeface="Calibri"/>
                <a:sym typeface="Calibri"/>
              </a:rPr>
              <a:t>i_data</a:t>
            </a:r>
            <a:r>
              <a:rPr lang="en-US" dirty="0">
                <a:solidFill>
                  <a:srgbClr val="1E2328"/>
                </a:solidFill>
                <a:ea typeface="Calibri"/>
                <a:cs typeface="Calibri"/>
                <a:sym typeface="Calibri"/>
              </a:rPr>
              <a:t> after the accept cycle must not affect the frame already in flight</a:t>
            </a:r>
            <a:endParaRPr lang="en-US" dirty="0">
              <a:solidFill>
                <a:schemeClr val="dk1"/>
              </a:solidFill>
              <a:ea typeface="Calibri"/>
              <a:cs typeface="Calibri"/>
              <a:sym typeface="Calibri"/>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47" y="4005064"/>
            <a:ext cx="8352928"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8148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395536" y="620688"/>
            <a:ext cx="8229600" cy="1143000"/>
          </a:xfrm>
        </p:spPr>
        <p:txBody>
          <a:bodyPr>
            <a:normAutofit fontScale="90000"/>
          </a:bodyPr>
          <a:lstStyle/>
          <a:p>
            <a:r>
              <a:rPr lang="en-US" sz="5400" dirty="0" smtClean="0"/>
              <a:t>FSM</a:t>
            </a:r>
            <a:r>
              <a:rPr lang="en-US" dirty="0" smtClean="0"/>
              <a:t>(</a:t>
            </a:r>
            <a:r>
              <a:rPr lang="en-US" b="1" dirty="0" smtClean="0"/>
              <a:t>Controller</a:t>
            </a:r>
            <a:r>
              <a:rPr lang="en-US" dirty="0" smtClean="0"/>
              <a:t> )</a:t>
            </a:r>
            <a:r>
              <a:rPr lang="ar-EG" sz="5400" dirty="0" smtClean="0"/>
              <a:t/>
            </a:r>
            <a:br>
              <a:rPr lang="ar-EG" sz="5400" dirty="0" smtClean="0"/>
            </a:br>
            <a:endParaRPr lang="ar-EG" dirty="0"/>
          </a:p>
        </p:txBody>
      </p:sp>
      <p:pic>
        <p:nvPicPr>
          <p:cNvPr id="4" name="Picture 2" descr="C:\Users\hp\Downloads\fsm_tx.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191838"/>
            <a:ext cx="8229600" cy="3342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4093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System Architecture _</a:t>
            </a:r>
            <a:r>
              <a:rPr lang="en-US" dirty="0" err="1" smtClean="0"/>
              <a:t>tx</a:t>
            </a:r>
            <a:endParaRPr lang="ar-EG" dirty="0"/>
          </a:p>
        </p:txBody>
      </p:sp>
      <p:pic>
        <p:nvPicPr>
          <p:cNvPr id="4" name="Picture 2" descr="C:\Users\hp\Downloads\RTL_TX.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876992"/>
            <a:ext cx="8229600" cy="3972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8399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US" b="1" dirty="0" err="1" smtClean="0"/>
              <a:t>Objective_rx</a:t>
            </a:r>
            <a:r>
              <a:rPr lang="ar-EG" b="1" dirty="0" smtClean="0"/>
              <a:t/>
            </a:r>
            <a:br>
              <a:rPr lang="ar-EG" b="1" dirty="0" smtClean="0"/>
            </a:br>
            <a:endParaRPr lang="ar-EG"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2132856"/>
            <a:ext cx="8010796" cy="3006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7601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lvl="0"/>
            <a:r>
              <a:rPr lang="en-US" b="1" i="0" u="none" strike="noStrike" cap="none" dirty="0" err="1" smtClean="0">
                <a:solidFill>
                  <a:srgbClr val="1E2328"/>
                </a:solidFill>
                <a:latin typeface="Cambria"/>
                <a:ea typeface="Cambria"/>
                <a:cs typeface="Cambria"/>
                <a:sym typeface="Cambria"/>
              </a:rPr>
              <a:t>uart_rx</a:t>
            </a:r>
            <a:r>
              <a:rPr lang="en-US" b="1" i="0" u="none" strike="noStrike" cap="none" dirty="0" smtClean="0">
                <a:solidFill>
                  <a:srgbClr val="1E2328"/>
                </a:solidFill>
                <a:latin typeface="Cambria"/>
                <a:ea typeface="Cambria"/>
                <a:cs typeface="Cambria"/>
                <a:sym typeface="Cambria"/>
              </a:rPr>
              <a:t> — Required </a:t>
            </a:r>
            <a:r>
              <a:rPr lang="en-US" b="1" i="0" u="none" strike="noStrike" cap="none" dirty="0" err="1" smtClean="0">
                <a:solidFill>
                  <a:srgbClr val="1E2328"/>
                </a:solidFill>
                <a:latin typeface="Cambria"/>
                <a:ea typeface="Cambria"/>
                <a:cs typeface="Cambria"/>
                <a:sym typeface="Cambria"/>
              </a:rPr>
              <a:t>Behaviour</a:t>
            </a:r>
            <a:r>
              <a:rPr lang="en-US" dirty="0">
                <a:solidFill>
                  <a:schemeClr val="dk1"/>
                </a:solidFill>
                <a:ea typeface="Calibri"/>
                <a:cs typeface="Calibri"/>
                <a:sym typeface="Calibri"/>
              </a:rPr>
              <a:t/>
            </a:r>
            <a:br>
              <a:rPr lang="en-US" dirty="0">
                <a:solidFill>
                  <a:schemeClr val="dk1"/>
                </a:solidFill>
                <a:ea typeface="Calibri"/>
                <a:cs typeface="Calibri"/>
                <a:sym typeface="Calibri"/>
              </a:rPr>
            </a:br>
            <a:endParaRPr lang="ar-EG" dirty="0"/>
          </a:p>
        </p:txBody>
      </p:sp>
      <p:sp>
        <p:nvSpPr>
          <p:cNvPr id="3" name="عنصر نائب للمحتوى 2"/>
          <p:cNvSpPr>
            <a:spLocks noGrp="1"/>
          </p:cNvSpPr>
          <p:nvPr>
            <p:ph idx="1"/>
          </p:nvPr>
        </p:nvSpPr>
        <p:spPr>
          <a:xfrm>
            <a:off x="457200" y="1600201"/>
            <a:ext cx="7931224" cy="2332856"/>
          </a:xfrm>
        </p:spPr>
        <p:txBody>
          <a:bodyPr>
            <a:normAutofit fontScale="47500" lnSpcReduction="20000"/>
          </a:bodyPr>
          <a:lstStyle/>
          <a:p>
            <a:pPr lvl="0" algn="l" rtl="0">
              <a:spcBef>
                <a:spcPts val="0"/>
              </a:spcBef>
              <a:buClr>
                <a:srgbClr val="1E2328"/>
              </a:buClr>
              <a:buSzPts val="1600"/>
              <a:buFont typeface="Calibri"/>
              <a:buChar char="•"/>
            </a:pPr>
            <a:r>
              <a:rPr lang="en-US" dirty="0">
                <a:solidFill>
                  <a:srgbClr val="1E2328"/>
                </a:solidFill>
                <a:ea typeface="Calibri"/>
                <a:cs typeface="Calibri"/>
                <a:sym typeface="Calibri"/>
              </a:rPr>
              <a:t>Out of reset: </a:t>
            </a:r>
            <a:r>
              <a:rPr lang="en-US" dirty="0" err="1">
                <a:solidFill>
                  <a:srgbClr val="1E2328"/>
                </a:solidFill>
                <a:ea typeface="Calibri"/>
                <a:cs typeface="Calibri"/>
                <a:sym typeface="Calibri"/>
              </a:rPr>
              <a:t>o_busy</a:t>
            </a:r>
            <a:r>
              <a:rPr lang="en-US" dirty="0">
                <a:solidFill>
                  <a:srgbClr val="1E2328"/>
                </a:solidFill>
                <a:ea typeface="Calibri"/>
                <a:cs typeface="Calibri"/>
                <a:sym typeface="Calibri"/>
              </a:rPr>
              <a:t> = 0, outputs low</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a:solidFill>
                  <a:srgbClr val="1E2328"/>
                </a:solidFill>
                <a:ea typeface="Calibri"/>
                <a:cs typeface="Calibri"/>
                <a:sym typeface="Calibri"/>
              </a:rPr>
              <a:t>Detects the start bit only while idle — a 0 inside the data byte is never a new start</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a:solidFill>
                  <a:srgbClr val="1E2328"/>
                </a:solidFill>
                <a:ea typeface="Calibri"/>
                <a:cs typeface="Calibri"/>
                <a:sym typeface="Calibri"/>
              </a:rPr>
              <a:t>After a full frame, </a:t>
            </a:r>
            <a:r>
              <a:rPr lang="en-US" dirty="0" err="1">
                <a:solidFill>
                  <a:srgbClr val="1E2328"/>
                </a:solidFill>
                <a:ea typeface="Calibri"/>
                <a:cs typeface="Calibri"/>
                <a:sym typeface="Calibri"/>
              </a:rPr>
              <a:t>o_valid</a:t>
            </a:r>
            <a:r>
              <a:rPr lang="en-US" dirty="0">
                <a:solidFill>
                  <a:srgbClr val="1E2328"/>
                </a:solidFill>
                <a:ea typeface="Calibri"/>
                <a:cs typeface="Calibri"/>
                <a:sym typeface="Calibri"/>
              </a:rPr>
              <a:t> pulses for exactly 1 cycle with </a:t>
            </a:r>
            <a:r>
              <a:rPr lang="en-US" dirty="0" err="1">
                <a:solidFill>
                  <a:srgbClr val="1E2328"/>
                </a:solidFill>
                <a:ea typeface="Calibri"/>
                <a:cs typeface="Calibri"/>
                <a:sym typeface="Calibri"/>
              </a:rPr>
              <a:t>o_data</a:t>
            </a:r>
            <a:r>
              <a:rPr lang="en-US" dirty="0">
                <a:solidFill>
                  <a:srgbClr val="1E2328"/>
                </a:solidFill>
                <a:ea typeface="Calibri"/>
                <a:cs typeface="Calibri"/>
                <a:sym typeface="Calibri"/>
              </a:rPr>
              <a:t> holding the received byte</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a:solidFill>
                  <a:srgbClr val="1E2328"/>
                </a:solidFill>
                <a:ea typeface="Calibri"/>
                <a:cs typeface="Calibri"/>
                <a:sym typeface="Calibri"/>
              </a:rPr>
              <a:t>Flag-and-deliver: even on error, </a:t>
            </a:r>
            <a:r>
              <a:rPr lang="en-US" dirty="0" err="1">
                <a:solidFill>
                  <a:srgbClr val="1E2328"/>
                </a:solidFill>
                <a:ea typeface="Calibri"/>
                <a:cs typeface="Calibri"/>
                <a:sym typeface="Calibri"/>
              </a:rPr>
              <a:t>o_valid</a:t>
            </a:r>
            <a:r>
              <a:rPr lang="en-US" dirty="0">
                <a:solidFill>
                  <a:srgbClr val="1E2328"/>
                </a:solidFill>
                <a:ea typeface="Calibri"/>
                <a:cs typeface="Calibri"/>
                <a:sym typeface="Calibri"/>
              </a:rPr>
              <a:t> still pulses and </a:t>
            </a:r>
            <a:r>
              <a:rPr lang="en-US" dirty="0" err="1">
                <a:solidFill>
                  <a:srgbClr val="1E2328"/>
                </a:solidFill>
                <a:ea typeface="Calibri"/>
                <a:cs typeface="Calibri"/>
                <a:sym typeface="Calibri"/>
              </a:rPr>
              <a:t>o_data</a:t>
            </a:r>
            <a:r>
              <a:rPr lang="en-US" dirty="0">
                <a:solidFill>
                  <a:srgbClr val="1E2328"/>
                </a:solidFill>
                <a:ea typeface="Calibri"/>
                <a:cs typeface="Calibri"/>
                <a:sym typeface="Calibri"/>
              </a:rPr>
              <a:t> still carries the byte</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err="1">
                <a:solidFill>
                  <a:srgbClr val="1E2328"/>
                </a:solidFill>
                <a:ea typeface="Calibri"/>
                <a:cs typeface="Calibri"/>
                <a:sym typeface="Calibri"/>
              </a:rPr>
              <a:t>o_frame_err</a:t>
            </a:r>
            <a:r>
              <a:rPr lang="en-US" dirty="0">
                <a:solidFill>
                  <a:srgbClr val="1E2328"/>
                </a:solidFill>
                <a:ea typeface="Calibri"/>
                <a:cs typeface="Calibri"/>
                <a:sym typeface="Calibri"/>
              </a:rPr>
              <a:t> pulses (same cycle as </a:t>
            </a:r>
            <a:r>
              <a:rPr lang="en-US" dirty="0" err="1">
                <a:solidFill>
                  <a:srgbClr val="1E2328"/>
                </a:solidFill>
                <a:ea typeface="Calibri"/>
                <a:cs typeface="Calibri"/>
                <a:sym typeface="Calibri"/>
              </a:rPr>
              <a:t>o_valid</a:t>
            </a:r>
            <a:r>
              <a:rPr lang="en-US" dirty="0">
                <a:solidFill>
                  <a:srgbClr val="1E2328"/>
                </a:solidFill>
                <a:ea typeface="Calibri"/>
                <a:cs typeface="Calibri"/>
                <a:sym typeface="Calibri"/>
              </a:rPr>
              <a:t>) when the stop-bit position isn't 1</a:t>
            </a:r>
            <a:endParaRPr lang="en-US" dirty="0">
              <a:solidFill>
                <a:schemeClr val="dk1"/>
              </a:solidFill>
              <a:ea typeface="Calibri"/>
              <a:cs typeface="Calibri"/>
              <a:sym typeface="Calibri"/>
            </a:endParaRPr>
          </a:p>
          <a:p>
            <a:pPr lvl="0" algn="l" rtl="0">
              <a:spcBef>
                <a:spcPts val="1400"/>
              </a:spcBef>
              <a:buClr>
                <a:srgbClr val="1E2328"/>
              </a:buClr>
              <a:buSzPts val="1600"/>
              <a:buFont typeface="Calibri"/>
              <a:buChar char="•"/>
            </a:pPr>
            <a:r>
              <a:rPr lang="en-US" dirty="0" err="1">
                <a:solidFill>
                  <a:srgbClr val="1E2328"/>
                </a:solidFill>
                <a:ea typeface="Calibri"/>
                <a:cs typeface="Calibri"/>
                <a:sym typeface="Calibri"/>
              </a:rPr>
              <a:t>o_parity_err</a:t>
            </a:r>
            <a:r>
              <a:rPr lang="en-US" dirty="0">
                <a:solidFill>
                  <a:srgbClr val="1E2328"/>
                </a:solidFill>
                <a:ea typeface="Calibri"/>
                <a:cs typeface="Calibri"/>
                <a:sym typeface="Calibri"/>
              </a:rPr>
              <a:t> pulses when </a:t>
            </a:r>
            <a:r>
              <a:rPr lang="en-US" dirty="0" err="1">
                <a:solidFill>
                  <a:srgbClr val="1E2328"/>
                </a:solidFill>
                <a:ea typeface="Calibri"/>
                <a:cs typeface="Calibri"/>
                <a:sym typeface="Calibri"/>
              </a:rPr>
              <a:t>i_par_en</a:t>
            </a:r>
            <a:r>
              <a:rPr lang="en-US" dirty="0">
                <a:solidFill>
                  <a:srgbClr val="1E2328"/>
                </a:solidFill>
                <a:ea typeface="Calibri"/>
                <a:cs typeface="Calibri"/>
                <a:sym typeface="Calibri"/>
              </a:rPr>
              <a:t>=1 and received parity disagrees — always 0 when </a:t>
            </a:r>
            <a:r>
              <a:rPr lang="en-US" dirty="0" err="1">
                <a:solidFill>
                  <a:srgbClr val="1E2328"/>
                </a:solidFill>
                <a:ea typeface="Calibri"/>
                <a:cs typeface="Calibri"/>
                <a:sym typeface="Calibri"/>
              </a:rPr>
              <a:t>i_par_en</a:t>
            </a:r>
            <a:r>
              <a:rPr lang="en-US" dirty="0">
                <a:solidFill>
                  <a:srgbClr val="1E2328"/>
                </a:solidFill>
                <a:ea typeface="Calibri"/>
                <a:cs typeface="Calibri"/>
                <a:sym typeface="Calibri"/>
              </a:rPr>
              <a:t>=0</a:t>
            </a:r>
            <a:endParaRPr lang="en-US" dirty="0">
              <a:solidFill>
                <a:schemeClr val="dk1"/>
              </a:solidFill>
              <a:ea typeface="Calibri"/>
              <a:cs typeface="Calibri"/>
              <a:sym typeface="Calibri"/>
            </a:endParaRPr>
          </a:p>
          <a:p>
            <a:pPr marL="0" indent="0">
              <a:buNone/>
            </a:pPr>
            <a:endParaRPr lang="ar-EG"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128" y="4293096"/>
            <a:ext cx="8012113"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6588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System Architecture _</a:t>
            </a:r>
            <a:r>
              <a:rPr lang="en-US" dirty="0" err="1" smtClean="0"/>
              <a:t>rx</a:t>
            </a:r>
            <a:endParaRPr lang="ar-EG"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412776"/>
            <a:ext cx="7972968" cy="51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4438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err="1" smtClean="0"/>
              <a:t>Uart</a:t>
            </a:r>
            <a:r>
              <a:rPr lang="en-US" dirty="0" smtClean="0"/>
              <a:t>(full)</a:t>
            </a:r>
            <a:endParaRPr lang="ar-EG"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340768"/>
            <a:ext cx="8229600" cy="320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مستطيل 3"/>
          <p:cNvSpPr/>
          <p:nvPr/>
        </p:nvSpPr>
        <p:spPr>
          <a:xfrm>
            <a:off x="721611" y="4365104"/>
            <a:ext cx="7686600" cy="1754326"/>
          </a:xfrm>
          <a:prstGeom prst="rect">
            <a:avLst/>
          </a:prstGeom>
        </p:spPr>
        <p:txBody>
          <a:bodyPr wrap="square">
            <a:spAutoFit/>
          </a:bodyPr>
          <a:lstStyle/>
          <a:p>
            <a:pPr algn="l"/>
            <a:r>
              <a:rPr lang="en-US" b="1" dirty="0"/>
              <a:t>RX and TX communicate through shared timing (same clock) and a pre-agreed frame format (START, DATA, PARITY, STOP). TX places bits on the wire one by one, and RX reads them at the exact same times using its own FSM and counters. RX then validates the data using parity and stop bit checking. RX sends no direct feedback to TX; both operate independently based on the clock and the protocol </a:t>
            </a:r>
            <a:r>
              <a:rPr lang="en-US" b="1" dirty="0" err="1"/>
              <a:t>agreemen</a:t>
            </a:r>
            <a:endParaRPr lang="ar-EG" dirty="0"/>
          </a:p>
        </p:txBody>
      </p:sp>
    </p:spTree>
    <p:extLst>
      <p:ext uri="{BB962C8B-B14F-4D97-AF65-F5344CB8AC3E}">
        <p14:creationId xmlns:p14="http://schemas.microsoft.com/office/powerpoint/2010/main" val="3419285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404664"/>
            <a:ext cx="9289032" cy="1143000"/>
          </a:xfrm>
        </p:spPr>
        <p:txBody>
          <a:bodyPr>
            <a:noAutofit/>
          </a:bodyPr>
          <a:lstStyle/>
          <a:p>
            <a:r>
              <a:rPr lang="en-US" sz="3600" b="1" dirty="0"/>
              <a:t>How RX Talks to TX – UART Communication</a:t>
            </a:r>
            <a:br>
              <a:rPr lang="en-US" sz="3600" b="1" dirty="0"/>
            </a:br>
            <a:endParaRPr lang="ar-EG" sz="3600" dirty="0"/>
          </a:p>
        </p:txBody>
      </p:sp>
      <p:sp>
        <p:nvSpPr>
          <p:cNvPr id="3" name="عنصر نائب للمحتوى 2"/>
          <p:cNvSpPr>
            <a:spLocks noGrp="1"/>
          </p:cNvSpPr>
          <p:nvPr>
            <p:ph idx="1"/>
          </p:nvPr>
        </p:nvSpPr>
        <p:spPr>
          <a:xfrm>
            <a:off x="457200" y="1600201"/>
            <a:ext cx="8229600" cy="2548880"/>
          </a:xfrm>
        </p:spPr>
        <p:txBody>
          <a:bodyPr>
            <a:normAutofit fontScale="77500" lnSpcReduction="20000"/>
          </a:bodyPr>
          <a:lstStyle/>
          <a:p>
            <a:pPr marL="0" indent="0" algn="l">
              <a:buNone/>
            </a:pPr>
            <a:r>
              <a:rPr lang="en-US" sz="2800" b="1" dirty="0" smtClean="0"/>
              <a:t>-</a:t>
            </a:r>
            <a:r>
              <a:rPr lang="en-US" sz="2800" b="1" dirty="0"/>
              <a:t> Pre-Communication Agreement (The Handshake Before Starting)</a:t>
            </a:r>
          </a:p>
          <a:p>
            <a:pPr marL="0" indent="0" algn="l">
              <a:buNone/>
            </a:pPr>
            <a:r>
              <a:rPr lang="en-US" sz="2800" dirty="0"/>
              <a:t>For RX to understand TX, both must agree on two things beforehand:</a:t>
            </a:r>
          </a:p>
          <a:p>
            <a:pPr marL="0" indent="0" algn="l">
              <a:buNone/>
            </a:pPr>
            <a:r>
              <a:rPr lang="en-US" sz="2800" b="1" dirty="0" smtClean="0"/>
              <a:t>1 </a:t>
            </a:r>
            <a:r>
              <a:rPr lang="en-US" sz="2800" b="1" dirty="0"/>
              <a:t>Baud Rate (Speed)</a:t>
            </a:r>
          </a:p>
          <a:p>
            <a:pPr marL="0" indent="0" algn="l">
              <a:buNone/>
            </a:pPr>
            <a:r>
              <a:rPr lang="en-US" sz="2800" dirty="0"/>
              <a:t>Both operate on the same clock signal.</a:t>
            </a:r>
          </a:p>
          <a:p>
            <a:pPr marL="0" indent="0" algn="l">
              <a:buNone/>
            </a:pPr>
            <a:r>
              <a:rPr lang="en-US" sz="2800" dirty="0"/>
              <a:t>Each bit takes </a:t>
            </a:r>
            <a:r>
              <a:rPr lang="en-US" sz="2800" b="1" dirty="0"/>
              <a:t>one clock cycle</a:t>
            </a:r>
            <a:r>
              <a:rPr lang="en-US" sz="2800" dirty="0"/>
              <a:t> to transmit/receive.</a:t>
            </a:r>
          </a:p>
          <a:p>
            <a:pPr marL="0" indent="0" algn="l">
              <a:buNone/>
            </a:pPr>
            <a:r>
              <a:rPr lang="en-US" sz="2800" b="1" dirty="0" smtClean="0"/>
              <a:t>2 </a:t>
            </a:r>
            <a:r>
              <a:rPr lang="en-US" sz="2800" b="1" dirty="0"/>
              <a:t>Frame Format (Structure)</a:t>
            </a:r>
          </a:p>
          <a:p>
            <a:pPr marL="0" indent="0" algn="l">
              <a:buNone/>
            </a:pPr>
            <a:r>
              <a:rPr lang="en-US" sz="2800" dirty="0"/>
              <a:t>Both agree that the frame consists of:</a:t>
            </a:r>
          </a:p>
          <a:p>
            <a:pPr marL="0" indent="0" algn="l">
              <a:buNone/>
            </a:pPr>
            <a:endParaRPr lang="ar-EG" sz="2800" dirty="0"/>
          </a:p>
        </p:txBody>
      </p:sp>
      <p:cxnSp>
        <p:nvCxnSpPr>
          <p:cNvPr id="5" name="رابط مستقيم 4"/>
          <p:cNvCxnSpPr/>
          <p:nvPr/>
        </p:nvCxnSpPr>
        <p:spPr>
          <a:xfrm>
            <a:off x="0" y="4005064"/>
            <a:ext cx="925252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مستطيل 5"/>
          <p:cNvSpPr/>
          <p:nvPr/>
        </p:nvSpPr>
        <p:spPr>
          <a:xfrm>
            <a:off x="5076056" y="3592286"/>
            <a:ext cx="3836435" cy="369332"/>
          </a:xfrm>
          <a:prstGeom prst="rect">
            <a:avLst/>
          </a:prstGeom>
        </p:spPr>
        <p:txBody>
          <a:bodyPr wrap="none">
            <a:spAutoFit/>
          </a:bodyPr>
          <a:lstStyle/>
          <a:p>
            <a:r>
              <a:rPr lang="en-US" dirty="0" smtClean="0"/>
              <a:t>START | DATA (8 bits) | [PARITY] | STOP</a:t>
            </a:r>
            <a:endParaRPr lang="ar-EG" dirty="0"/>
          </a:p>
        </p:txBody>
      </p:sp>
      <p:sp>
        <p:nvSpPr>
          <p:cNvPr id="7" name="سهم إلى اليمين 6"/>
          <p:cNvSpPr/>
          <p:nvPr/>
        </p:nvSpPr>
        <p:spPr>
          <a:xfrm>
            <a:off x="4860032" y="3776952"/>
            <a:ext cx="216024"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10" name="Rectangle 2"/>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r>
              <a:rPr kumimoji="0" lang="ar-EG" sz="800" b="0" i="0" u="none" strike="noStrike" cap="none" normalizeH="0" baseline="0" smtClean="0">
                <a:ln>
                  <a:noFill/>
                </a:ln>
                <a:solidFill>
                  <a:schemeClr val="tx1"/>
                </a:solidFill>
                <a:effectLst/>
                <a:latin typeface="Arial" pitchFamily="34" charset="0"/>
                <a:cs typeface="Arial" pitchFamily="34" charset="0"/>
              </a:rPr>
              <a:t/>
            </a:r>
            <a:br>
              <a:rPr kumimoji="0" lang="ar-EG" sz="800" b="0" i="0" u="none" strike="noStrike" cap="none" normalizeH="0" baseline="0" smtClean="0">
                <a:ln>
                  <a:noFill/>
                </a:ln>
                <a:solidFill>
                  <a:schemeClr val="tx1"/>
                </a:solidFill>
                <a:effectLst/>
                <a:latin typeface="Arial" pitchFamily="34" charset="0"/>
                <a:cs typeface="Arial" pitchFamily="34" charset="0"/>
              </a:rPr>
            </a:br>
            <a:endParaRPr kumimoji="0" lang="ar-EG" sz="1800" b="0" i="0" u="none" strike="noStrike" cap="none" normalizeH="0" baseline="0" smtClean="0">
              <a:ln>
                <a:noFill/>
              </a:ln>
              <a:solidFill>
                <a:schemeClr val="tx1"/>
              </a:solidFill>
              <a:effectLst/>
              <a:latin typeface="Arial" pitchFamily="34" charset="0"/>
              <a:cs typeface="Arial" pitchFamily="34" charset="0"/>
            </a:endParaRPr>
          </a:p>
        </p:txBody>
      </p:sp>
      <p:sp>
        <p:nvSpPr>
          <p:cNvPr id="11" name="مربع نص 10"/>
          <p:cNvSpPr txBox="1"/>
          <p:nvPr/>
        </p:nvSpPr>
        <p:spPr>
          <a:xfrm>
            <a:off x="251520" y="4180344"/>
            <a:ext cx="9217024" cy="2677656"/>
          </a:xfrm>
          <a:prstGeom prst="rect">
            <a:avLst/>
          </a:prstGeom>
          <a:noFill/>
        </p:spPr>
        <p:txBody>
          <a:bodyPr wrap="square" rtlCol="1">
            <a:spAutoFit/>
          </a:bodyPr>
          <a:lstStyle/>
          <a:p>
            <a:pPr algn="l"/>
            <a:r>
              <a:rPr lang="en-US" sz="2400" dirty="0"/>
              <a:t>Only </a:t>
            </a:r>
            <a:r>
              <a:rPr lang="en-US" sz="2400" b="1" dirty="0"/>
              <a:t>TX_OUT ↔ RX_IN</a:t>
            </a:r>
            <a:r>
              <a:rPr lang="en-US" sz="2400" dirty="0"/>
              <a:t> is the direct connection.</a:t>
            </a:r>
          </a:p>
          <a:p>
            <a:pPr algn="l"/>
            <a:r>
              <a:rPr lang="en-US" sz="2400" dirty="0"/>
              <a:t>All other signals are </a:t>
            </a:r>
            <a:r>
              <a:rPr lang="en-US" sz="2400" b="1" dirty="0"/>
              <a:t>status/error reports</a:t>
            </a:r>
            <a:r>
              <a:rPr lang="en-US" sz="2400" dirty="0"/>
              <a:t> to the outside world, </a:t>
            </a:r>
            <a:r>
              <a:rPr lang="en-US" sz="2400" b="1" dirty="0"/>
              <a:t>not</a:t>
            </a:r>
            <a:r>
              <a:rPr lang="en-US" sz="2400" dirty="0"/>
              <a:t> feedback to the other side.</a:t>
            </a:r>
          </a:p>
          <a:p>
            <a:pPr algn="l"/>
            <a:r>
              <a:rPr lang="en-US" sz="2400" dirty="0"/>
              <a:t>TX does not know if RX received correctly; RX simply listens, decodes, and reports errors.</a:t>
            </a:r>
          </a:p>
          <a:p>
            <a:pPr algn="l"/>
            <a:r>
              <a:rPr lang="en-US" sz="2400" dirty="0" smtClean="0"/>
              <a:t/>
            </a:r>
            <a:br>
              <a:rPr lang="en-US" sz="2400" dirty="0" smtClean="0"/>
            </a:br>
            <a:endParaRPr lang="ar-EG" sz="2400" dirty="0"/>
          </a:p>
        </p:txBody>
      </p:sp>
    </p:spTree>
    <p:extLst>
      <p:ext uri="{BB962C8B-B14F-4D97-AF65-F5344CB8AC3E}">
        <p14:creationId xmlns:p14="http://schemas.microsoft.com/office/powerpoint/2010/main" val="4214865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Wave form</a:t>
            </a:r>
            <a:endParaRPr lang="ar-EG" dirty="0"/>
          </a:p>
        </p:txBody>
      </p:sp>
      <p:pic>
        <p:nvPicPr>
          <p:cNvPr id="6146" name="Picture 2" descr="C:\Users\hp\Downloads\final_wave_form.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052912"/>
            <a:ext cx="8229600" cy="3620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194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smtClean="0"/>
              <a:t>Output</a:t>
            </a:r>
            <a:endParaRPr lang="ar-EG" dirty="0"/>
          </a:p>
        </p:txBody>
      </p:sp>
      <p:pic>
        <p:nvPicPr>
          <p:cNvPr id="7170" name="Picture 2" descr="C:\Users\hp\Downloads\final_uart_ou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1268760"/>
            <a:ext cx="7416825" cy="518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9616830"/>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363</Words>
  <Application>Microsoft Office PowerPoint</Application>
  <PresentationFormat>عرض على الشاشة (3:4)‏</PresentationFormat>
  <Paragraphs>48</Paragraphs>
  <Slides>12</Slides>
  <Notes>0</Notes>
  <HiddenSlides>0</HiddenSlides>
  <MMClips>0</MMClips>
  <ScaleCrop>false</ScaleCrop>
  <HeadingPairs>
    <vt:vector size="4" baseType="variant">
      <vt:variant>
        <vt:lpstr>نسق</vt:lpstr>
      </vt:variant>
      <vt:variant>
        <vt:i4>1</vt:i4>
      </vt:variant>
      <vt:variant>
        <vt:lpstr>عناوين الشرائح</vt:lpstr>
      </vt:variant>
      <vt:variant>
        <vt:i4>12</vt:i4>
      </vt:variant>
    </vt:vector>
  </HeadingPairs>
  <TitlesOfParts>
    <vt:vector size="13" baseType="lpstr">
      <vt:lpstr>نسق Office</vt:lpstr>
      <vt:lpstr>UART(tx)</vt:lpstr>
      <vt:lpstr>عرض تقديمي في PowerPoint</vt:lpstr>
      <vt:lpstr>uart_tx — Required Behaviour </vt:lpstr>
      <vt:lpstr>FSM(Controller ) </vt:lpstr>
      <vt:lpstr>System Architecture _tx</vt:lpstr>
      <vt:lpstr>Objective_rx </vt:lpstr>
      <vt:lpstr>uart_rx — Required Behaviour </vt:lpstr>
      <vt:lpstr>System Architecture _rx</vt:lpstr>
      <vt:lpstr>Uart(full)</vt:lpstr>
      <vt:lpstr>How RX Talks to TX – UART Communication </vt:lpstr>
      <vt:lpstr>Wave form</vt:lpstr>
      <vt:lpstr>Output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UART(tx)</dc:title>
  <dc:creator>hp</dc:creator>
  <cp:lastModifiedBy>hp</cp:lastModifiedBy>
  <cp:revision>7</cp:revision>
  <dcterms:created xsi:type="dcterms:W3CDTF">2026-09-03T18:15:08Z</dcterms:created>
  <dcterms:modified xsi:type="dcterms:W3CDTF">2026-09-03T19:11:25Z</dcterms:modified>
</cp:coreProperties>
</file>